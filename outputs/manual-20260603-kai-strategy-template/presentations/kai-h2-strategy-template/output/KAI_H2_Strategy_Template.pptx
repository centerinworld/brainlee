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커버 템플릿: 제목, 조직명, 회의 목적, 핵심 아젠다를 한 장에서 정리하는 시작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템플릿: 회의 목차, 세션 제목, 세션 목적을 계단형으로 보여주는 목차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 템플릿: 3대 메시지와 의사결정 요청을 한 장에 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전략 축 템플릿: 성장/수익성/실행력 3개 축으로 전략 과제를 구조화.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KPI dashboard 템플릿: 상단 4 KPI 카드 + 하단 차트 2개 + 인사이트 레일.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 템플릿: 4단계 chevron + 각 단계별 마일스톤 + 하단 owner 영역.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Issue/Risk/Action 템플릿: 이슈, 리스크, 대응과제를 병렬로 보여주는 현안 슬라이드.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Priority matrix 템플릿: 영향도와 실행난이도 2x2로 우선순위를 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Workstream 템플릿: 조직별 실행항목과 owner/support/decision 구분을 정리.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템플릿: 표/차트 상세자료와 우측 주석 레일을 함께 제공.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I_H2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548640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97680" y="0"/>
            <a:ext cx="4526280" cy="548640"/>
          </a:xfrm>
          <a:prstGeom prst="rect">
            <a:avLst/>
          </a:prstGeom>
          <a:solidFill>
            <a:srgbClr val="114E96"/>
          </a:solidFill>
          <a:ln w="12700">
            <a:solidFill>
              <a:srgbClr val="114E9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680000">
            <a:off x="8732520" y="-18288"/>
            <a:ext cx="237744" cy="658368"/>
          </a:xfrm>
          <a:prstGeom prst="rect">
            <a:avLst/>
          </a:prstGeom>
          <a:solidFill>
            <a:srgbClr val="2D6FBA">
              <a:alpha val="90000"/>
            </a:srgbClr>
          </a:solidFill>
          <a:ln w="12700">
            <a:solidFill>
              <a:srgbClr val="2D6FBA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06840" y="0"/>
            <a:ext cx="318211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30936"/>
            <a:ext cx="11521440" cy="0"/>
          </a:xfrm>
          <a:prstGeom prst="line">
            <a:avLst/>
          </a:prstGeom>
          <a:noFill/>
          <a:ln w="15240">
            <a:solidFill>
              <a:srgbClr val="114E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28016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KAI  |  하반기 전략회의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20624" y="31089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8E5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한국항공우주산업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217152" y="109728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FA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MASTER EDIT AREA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0442448" y="914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i="1" dirty="0">
                <a:solidFill>
                  <a:srgbClr val="0B2F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857232" y="310896"/>
            <a:ext cx="1682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H2 Strategy Meeting</a:t>
            </a:r>
            <a:endParaRPr lang="en-US" sz="800" dirty="0"/>
          </a:p>
        </p:txBody>
      </p:sp>
      <p:sp>
        <p:nvSpPr>
          <p:cNvPr id="12" name="Text 10"/>
          <p:cNvSpPr/>
          <p:nvPr>
            <p:ph idx="110" type="title" hasCustomPrompt="1"/>
          </p:nvPr>
        </p:nvSpPr>
        <p:spPr>
          <a:xfrm>
            <a:off x="502920" y="8686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13" name="Text 10"/>
          <p:cNvSpPr/>
          <p:nvPr>
            <p:ph idx="111" type="body" hasCustomPrompt="1"/>
          </p:nvPr>
        </p:nvSpPr>
        <p:spPr>
          <a:xfrm>
            <a:off x="502920" y="1325880"/>
            <a:ext cx="10927080" cy="4800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68C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68C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70408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 TEMPLATE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30352" y="1005840"/>
            <a:ext cx="8138160" cy="1874520"/>
          </a:xfrm>
          <a:prstGeom prst="roundRect">
            <a:avLst>
              <a:gd name="adj" fmla="val 3902"/>
            </a:avLst>
          </a:prstGeom>
          <a:solidFill>
            <a:srgbClr val="F4F7FB"/>
          </a:solidFill>
          <a:ln w="12700">
            <a:solidFill>
              <a:srgbClr val="C8D4E3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68096" y="135331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하반기 전략회의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86384" y="179222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[본부/사업명 입력]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6384" y="208483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방향, 투자 우선순위, 실행계획, 리스크 대응을 한 번에 정리하는 표지 템플릿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8887968" y="987552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06256" y="1005840"/>
            <a:ext cx="73152" cy="1883664"/>
          </a:xfrm>
          <a:prstGeom prst="rect">
            <a:avLst/>
          </a:prstGeom>
          <a:solidFill>
            <a:srgbClr val="2D6FBA"/>
          </a:solidFill>
          <a:ln w="12700">
            <a:solidFill>
              <a:srgbClr val="2D6FB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052560" y="1097280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표지 사용 가이드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52560" y="1298448"/>
            <a:ext cx="2487168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[발표 제목]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[발표 조직]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[일자]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[발표자]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3200400"/>
            <a:ext cx="354787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218688"/>
            <a:ext cx="73152" cy="2295144"/>
          </a:xfrm>
          <a:prstGeom prst="rect">
            <a:avLst/>
          </a:prstGeom>
          <a:solidFill>
            <a:srgbClr val="2D6FBA"/>
          </a:solidFill>
          <a:ln w="12700">
            <a:solidFill>
              <a:srgbClr val="2D6FB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3310128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아젠다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" y="3511296"/>
            <a:ext cx="329184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[아젠다 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[아젠다 2]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[아젠다 3]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[아젠다 4]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70248" y="3200400"/>
            <a:ext cx="3547872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88536" y="3218688"/>
            <a:ext cx="73152" cy="2295144"/>
          </a:xfrm>
          <a:prstGeom prst="rect">
            <a:avLst/>
          </a:prstGeom>
          <a:solidFill>
            <a:srgbClr val="2D6FBA"/>
          </a:solidFill>
          <a:ln w="12700">
            <a:solidFill>
              <a:srgbClr val="2D6FB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34840" y="3310128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회의 목적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434840" y="3511296"/>
            <a:ext cx="329184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[의사결정 포인트]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[공유 목적]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[보고 범위]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10144" y="3200400"/>
            <a:ext cx="3621024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28432" y="3218688"/>
            <a:ext cx="73152" cy="2295144"/>
          </a:xfrm>
          <a:prstGeom prst="rect">
            <a:avLst/>
          </a:prstGeom>
          <a:solidFill>
            <a:srgbClr val="2D6FBA"/>
          </a:solidFill>
          <a:ln w="12700">
            <a:solidFill>
              <a:srgbClr val="2D6FB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74736" y="3310128"/>
            <a:ext cx="3328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작성 메모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74736" y="3511296"/>
            <a:ext cx="3364992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표지는 조직명/회의명 교체 후,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하단 3개 블록으로 발표 포인트를 요약합니다.</a:t>
            </a:r>
            <a:endParaRPr lang="en-US" sz="1000" dirty="0"/>
          </a:p>
        </p:txBody>
      </p:sp>
      <p:sp>
        <p:nvSpPr>
          <p:cNvPr id="24" name="Text 10"/>
          <p:cNvSpPr/>
          <p:nvPr>
            <p:ph idx="110" type="title" hasCustomPrompt="1"/>
          </p:nvPr>
        </p:nvSpPr>
        <p:spPr>
          <a:xfrm>
            <a:off x="50292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Text 10"/>
          <p:cNvSpPr/>
          <p:nvPr>
            <p:ph idx="111" type="body" hasCustomPrompt="1"/>
          </p:nvPr>
        </p:nvSpPr>
        <p:spPr>
          <a:xfrm>
            <a:off x="502920" y="1325880"/>
            <a:ext cx="10927080" cy="4800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68C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70408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AGENDA TEMPLATE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회의 Agenda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전체 발표 흐름과 각 세션의 목적을 요약하는 기본 목차형 템플릿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21792" y="1627632"/>
            <a:ext cx="566928" cy="475488"/>
          </a:xfrm>
          <a:prstGeom prst="roundRect">
            <a:avLst>
              <a:gd name="adj" fmla="val 15385"/>
            </a:avLst>
          </a:prstGeom>
          <a:solidFill>
            <a:srgbClr val="0B2F6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74650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353312" y="1609344"/>
            <a:ext cx="100584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71600" y="1627632"/>
            <a:ext cx="73152" cy="475488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17904" y="1719072"/>
            <a:ext cx="9765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경영환경 및 전제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17904" y="1920240"/>
            <a:ext cx="9802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시장, 정책, 고객, 내부 제약조건 정리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" y="2450592"/>
            <a:ext cx="566928" cy="475488"/>
          </a:xfrm>
          <a:prstGeom prst="roundRect">
            <a:avLst>
              <a:gd name="adj" fmla="val 15385"/>
            </a:avLst>
          </a:prstGeom>
          <a:solidFill>
            <a:srgbClr val="114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56946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353312" y="2432304"/>
            <a:ext cx="10058400" cy="512064"/>
          </a:xfrm>
          <a:prstGeom prst="roundRect">
            <a:avLst>
              <a:gd name="adj" fmla="val 14286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450592"/>
            <a:ext cx="73152" cy="475488"/>
          </a:xfrm>
          <a:prstGeom prst="rect">
            <a:avLst/>
          </a:prstGeom>
          <a:solidFill>
            <a:srgbClr val="2D6FBA"/>
          </a:solidFill>
          <a:ln w="12700">
            <a:solidFill>
              <a:srgbClr val="2D6FB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17904" y="2542032"/>
            <a:ext cx="9765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사업별 핵심 전략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17904" y="2743200"/>
            <a:ext cx="9802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성장축, 방어축, 집중영역 정리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" y="3273552"/>
            <a:ext cx="566928" cy="475488"/>
          </a:xfrm>
          <a:prstGeom prst="roundRect">
            <a:avLst>
              <a:gd name="adj" fmla="val 15385"/>
            </a:avLst>
          </a:prstGeom>
          <a:solidFill>
            <a:srgbClr val="114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39242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353312" y="3255264"/>
            <a:ext cx="100584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71600" y="3273552"/>
            <a:ext cx="73152" cy="475488"/>
          </a:xfrm>
          <a:prstGeom prst="rect">
            <a:avLst/>
          </a:prstGeom>
          <a:solidFill>
            <a:srgbClr val="2D6FBA"/>
          </a:solidFill>
          <a:ln w="12700">
            <a:solidFill>
              <a:srgbClr val="2D6FB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17904" y="3364992"/>
            <a:ext cx="9765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재무 및 투자 우선순위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517904" y="3566160"/>
            <a:ext cx="9802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예산, CAPEX, 수익성 관점 연결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1792" y="4096512"/>
            <a:ext cx="566928" cy="475488"/>
          </a:xfrm>
          <a:prstGeom prst="roundRect">
            <a:avLst>
              <a:gd name="adj" fmla="val 15385"/>
            </a:avLst>
          </a:prstGeom>
          <a:solidFill>
            <a:srgbClr val="114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421538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353312" y="4078224"/>
            <a:ext cx="10058400" cy="512064"/>
          </a:xfrm>
          <a:prstGeom prst="roundRect">
            <a:avLst>
              <a:gd name="adj" fmla="val 14286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0" y="4096512"/>
            <a:ext cx="73152" cy="475488"/>
          </a:xfrm>
          <a:prstGeom prst="rect">
            <a:avLst/>
          </a:prstGeom>
          <a:solidFill>
            <a:srgbClr val="2D6FBA"/>
          </a:solidFill>
          <a:ln w="12700">
            <a:solidFill>
              <a:srgbClr val="2D6FB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17904" y="4187952"/>
            <a:ext cx="9765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실행 로드맵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17904" y="4389120"/>
            <a:ext cx="9802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분기별 주요 마일스톤과 책임조직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" y="4919472"/>
            <a:ext cx="566928" cy="475488"/>
          </a:xfrm>
          <a:prstGeom prst="roundRect">
            <a:avLst>
              <a:gd name="adj" fmla="val 15385"/>
            </a:avLst>
          </a:prstGeom>
          <a:solidFill>
            <a:srgbClr val="114E9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1792" y="5038344"/>
            <a:ext cx="5669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1353312" y="4901184"/>
            <a:ext cx="1005840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71600" y="4919472"/>
            <a:ext cx="73152" cy="475488"/>
          </a:xfrm>
          <a:prstGeom prst="rect">
            <a:avLst/>
          </a:prstGeom>
          <a:solidFill>
            <a:srgbClr val="2D6FBA"/>
          </a:solidFill>
          <a:ln w="12700">
            <a:solidFill>
              <a:srgbClr val="2D6FBA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517904" y="5010912"/>
            <a:ext cx="9765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주요 리스크 대응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17904" y="5212080"/>
            <a:ext cx="9802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리스크, 선제조치, 의사결정 필요사항</a:t>
            </a:r>
            <a:endParaRPr lang="en-US" sz="1000" dirty="0"/>
          </a:p>
        </p:txBody>
      </p:sp>
      <p:sp>
        <p:nvSpPr>
          <p:cNvPr id="36" name="Text 10"/>
          <p:cNvSpPr/>
          <p:nvPr>
            <p:ph idx="110" type="title" hasCustomPrompt="1"/>
          </p:nvPr>
        </p:nvSpPr>
        <p:spPr>
          <a:xfrm>
            <a:off x="50292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600" dirty="0"/>
          </a:p>
        </p:txBody>
      </p:sp>
      <p:sp>
        <p:nvSpPr>
          <p:cNvPr id="37" name="Text 10"/>
          <p:cNvSpPr/>
          <p:nvPr>
            <p:ph idx="111" type="body" hasCustomPrompt="1"/>
          </p:nvPr>
        </p:nvSpPr>
        <p:spPr>
          <a:xfrm>
            <a:off x="502920" y="1325880"/>
            <a:ext cx="10927080" cy="4800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68C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70408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핵심 메시지 요약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보고 초반에 결론과 요청사항을 먼저 정리하는 임원 보고형 템플릿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52" y="16459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64208"/>
            <a:ext cx="73152" cy="1837944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755648"/>
            <a:ext cx="2953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메시지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" y="1956816"/>
            <a:ext cx="29900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[가장 중요한 결론]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수치, 방향, 의미를 3줄 이내로 정리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16459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41648" y="1664208"/>
            <a:ext cx="73152" cy="1837944"/>
          </a:xfrm>
          <a:prstGeom prst="rect">
            <a:avLst/>
          </a:prstGeom>
          <a:solidFill>
            <a:srgbClr val="2D6FBA"/>
          </a:solidFill>
          <a:ln w="12700">
            <a:solidFill>
              <a:srgbClr val="2D6FBA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87952" y="1755648"/>
            <a:ext cx="2953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메시지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87952" y="1956816"/>
            <a:ext cx="29900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[사업/투자/운영 측면의 두 번째 결론]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조직 간 정렬 포인트 포함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516368" y="1645920"/>
            <a:ext cx="324612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34656" y="1664208"/>
            <a:ext cx="73152" cy="1837944"/>
          </a:xfrm>
          <a:prstGeom prst="rect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0" y="1755648"/>
            <a:ext cx="2953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핵심 메시지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1956816"/>
            <a:ext cx="2990088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[즉시 실행 또는 경영진 의사결정 필요사항]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영향도와 urgency 기재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" y="3749040"/>
            <a:ext cx="6748272" cy="1682496"/>
          </a:xfrm>
          <a:prstGeom prst="roundRect">
            <a:avLst>
              <a:gd name="adj" fmla="val 4348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767328"/>
            <a:ext cx="73152" cy="1645920"/>
          </a:xfrm>
          <a:prstGeom prst="rect">
            <a:avLst/>
          </a:prstGeom>
          <a:solidFill>
            <a:srgbClr val="2D6FBA"/>
          </a:solidFill>
          <a:ln w="12700">
            <a:solidFill>
              <a:srgbClr val="2D6FB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" y="3858768"/>
            <a:ext cx="6455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근거 / 수치 / 배경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" y="4059936"/>
            <a:ext cx="6492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[시장/고객/정책 변화]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[내부 성과/원가/개발 진척]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[이슈 발생 배경과 영향도]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79792" y="3749040"/>
            <a:ext cx="4169664" cy="1682496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0" y="3767328"/>
            <a:ext cx="73152" cy="1645920"/>
          </a:xfrm>
          <a:prstGeom prst="rect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44384" y="3858768"/>
            <a:ext cx="3877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의사결정 요청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44384" y="4059936"/>
            <a:ext cx="39136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[승인 필요안]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[조정 필요안]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[추가 검토 필요안]</a:t>
            </a:r>
            <a:endParaRPr lang="en-US" sz="1000" dirty="0"/>
          </a:p>
        </p:txBody>
      </p:sp>
      <p:sp>
        <p:nvSpPr>
          <p:cNvPr id="26" name="Text 10"/>
          <p:cNvSpPr/>
          <p:nvPr>
            <p:ph idx="110" type="title" hasCustomPrompt="1"/>
          </p:nvPr>
        </p:nvSpPr>
        <p:spPr>
          <a:xfrm>
            <a:off x="50292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600" dirty="0"/>
          </a:p>
        </p:txBody>
      </p:sp>
      <p:sp>
        <p:nvSpPr>
          <p:cNvPr id="27" name="Text 10"/>
          <p:cNvSpPr/>
          <p:nvPr>
            <p:ph idx="111" type="body" hasCustomPrompt="1"/>
          </p:nvPr>
        </p:nvSpPr>
        <p:spPr>
          <a:xfrm>
            <a:off x="502920" y="1325880"/>
            <a:ext cx="10927080" cy="4800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68C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70408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STRATEGY PILLARS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전략 축 / 과제 체계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3대 전략 축과 각 축별 핵심 과제를 정리하는 구조화 템플릿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3474720" cy="431596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64208"/>
            <a:ext cx="3474720" cy="512064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837944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성장 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95728"/>
            <a:ext cx="3145536" cy="841248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2414016"/>
            <a:ext cx="73152" cy="804672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505456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과제 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96112" y="2706624"/>
            <a:ext cx="2889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[신규 사업 기회]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[정량 KPI / 일정 / 책임조직]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511296"/>
            <a:ext cx="314553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529584"/>
            <a:ext cx="73152" cy="804672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621024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과제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96112" y="3822192"/>
            <a:ext cx="2889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[주력 매출 성장 과제]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[정량 KPI / 일정 / 책임조직]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26864"/>
            <a:ext cx="3145536" cy="841248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9808" y="4645152"/>
            <a:ext cx="73152" cy="804672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4736592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과제 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" y="4937760"/>
            <a:ext cx="2889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[고객/시장 확대 과제]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[정량 KPI / 일정 / 책임조직]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61688" y="1664208"/>
            <a:ext cx="3474720" cy="431596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61688" y="1664208"/>
            <a:ext cx="3474720" cy="512064"/>
          </a:xfrm>
          <a:prstGeom prst="rect">
            <a:avLst/>
          </a:prstGeom>
          <a:solidFill>
            <a:srgbClr val="114E96"/>
          </a:solidFill>
          <a:ln w="12700">
            <a:solidFill>
              <a:srgbClr val="114E96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61688" y="1837944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수익성 축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26280" y="2395728"/>
            <a:ext cx="3145536" cy="841248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44568" y="2414016"/>
            <a:ext cx="73152" cy="804672"/>
          </a:xfrm>
          <a:prstGeom prst="rect">
            <a:avLst/>
          </a:prstGeom>
          <a:solidFill>
            <a:srgbClr val="114E96"/>
          </a:solidFill>
          <a:ln w="12700">
            <a:solidFill>
              <a:srgbClr val="114E96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90872" y="2505456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과제 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90872" y="2706624"/>
            <a:ext cx="2889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[원가 혁신 과제]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[정량 KPI / 일정 / 책임조직]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26280" y="3511296"/>
            <a:ext cx="314553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44568" y="3529584"/>
            <a:ext cx="73152" cy="804672"/>
          </a:xfrm>
          <a:prstGeom prst="rect">
            <a:avLst/>
          </a:prstGeom>
          <a:solidFill>
            <a:srgbClr val="114E96"/>
          </a:solidFill>
          <a:ln w="12700">
            <a:solidFill>
              <a:srgbClr val="114E9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90872" y="3621024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과제 2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90872" y="3822192"/>
            <a:ext cx="2889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[포트폴리오 조정]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[정량 KPI / 일정 / 책임조직]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26280" y="4626864"/>
            <a:ext cx="3145536" cy="841248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44568" y="4645152"/>
            <a:ext cx="73152" cy="804672"/>
          </a:xfrm>
          <a:prstGeom prst="rect">
            <a:avLst/>
          </a:prstGeom>
          <a:solidFill>
            <a:srgbClr val="114E96"/>
          </a:solidFill>
          <a:ln w="12700">
            <a:solidFill>
              <a:srgbClr val="114E9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90872" y="4736592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과제 3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90872" y="4937760"/>
            <a:ext cx="2889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[개발 효율화 과제]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[정량 KPI / 일정 / 책임조직]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156448" y="1664208"/>
            <a:ext cx="3474720" cy="4315968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56448" y="1664208"/>
            <a:ext cx="3474720" cy="512064"/>
          </a:xfrm>
          <a:prstGeom prst="rect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56448" y="1837944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실행력 축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321040" y="2395728"/>
            <a:ext cx="3145536" cy="841248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39328" y="2414016"/>
            <a:ext cx="73152" cy="804672"/>
          </a:xfrm>
          <a:prstGeom prst="rect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85632" y="2505456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과제 1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485632" y="2706624"/>
            <a:ext cx="2889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[조직/인력 과제]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[정량 KPI / 일정 / 책임조직]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21040" y="3511296"/>
            <a:ext cx="314553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39328" y="3529584"/>
            <a:ext cx="73152" cy="804672"/>
          </a:xfrm>
          <a:prstGeom prst="rect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5632" y="3621024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과제 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485632" y="3822192"/>
            <a:ext cx="2889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[협업체계/거버넌스]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[정량 KPI / 일정 / 책임조직]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321040" y="4626864"/>
            <a:ext cx="3145536" cy="841248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39328" y="4645152"/>
            <a:ext cx="73152" cy="804672"/>
          </a:xfrm>
          <a:prstGeom prst="rect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85632" y="4736592"/>
            <a:ext cx="2852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과제 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485632" y="4937760"/>
            <a:ext cx="2889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[리스크 관리 체계]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[정량 KPI / 일정 / 책임조직]</a:t>
            </a:r>
            <a:endParaRPr lang="en-US" sz="1000" dirty="0"/>
          </a:p>
        </p:txBody>
      </p:sp>
      <p:sp>
        <p:nvSpPr>
          <p:cNvPr id="51" name="Text 10"/>
          <p:cNvSpPr/>
          <p:nvPr>
            <p:ph idx="110" type="title" hasCustomPrompt="1"/>
          </p:nvPr>
        </p:nvSpPr>
        <p:spPr>
          <a:xfrm>
            <a:off x="50292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600" dirty="0"/>
          </a:p>
        </p:txBody>
      </p:sp>
      <p:sp>
        <p:nvSpPr>
          <p:cNvPr id="52" name="Text 10"/>
          <p:cNvSpPr/>
          <p:nvPr>
            <p:ph idx="111" type="body" hasCustomPrompt="1"/>
          </p:nvPr>
        </p:nvSpPr>
        <p:spPr>
          <a:xfrm>
            <a:off x="502920" y="1325880"/>
            <a:ext cx="10927080" cy="4800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68C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70408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DASHBOARD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핵심 지표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수치 카드와 차트 영역을 함께 배치하는 임원용 KPI 템플릿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52" y="1618488"/>
            <a:ext cx="2578608" cy="969264"/>
          </a:xfrm>
          <a:prstGeom prst="roundRect">
            <a:avLst>
              <a:gd name="adj" fmla="val 7547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4944" y="178308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수주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94944" y="19659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F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[지표 값]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93392" y="198424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[전년/계획 대비]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337560" y="1618488"/>
            <a:ext cx="2578608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02152" y="178308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매출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502152" y="19659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4E9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[지표 값]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00600" y="198424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[전년/계획 대비]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6144768" y="1618488"/>
            <a:ext cx="2578608" cy="969264"/>
          </a:xfrm>
          <a:prstGeom prst="roundRect">
            <a:avLst>
              <a:gd name="adj" fmla="val 7547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78308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영업이익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309360" y="19659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6E6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[지표 값]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607808" y="198424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[전년/계획 대비]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8951976" y="1618488"/>
            <a:ext cx="2578608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16568" y="1783080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현안 지표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116568" y="19659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022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[지표 값]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415016" y="198424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[전년/계획 대비]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30352" y="2852928"/>
            <a:ext cx="5449824" cy="2670048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871216"/>
            <a:ext cx="73152" cy="2633472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4944" y="2962656"/>
            <a:ext cx="5157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Area 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944" y="3163824"/>
            <a:ext cx="519379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[수주/매출/생산 추이 차트 삽입]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[차트 제목]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[주석/단위]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44768" y="2852928"/>
            <a:ext cx="2743200" cy="2670048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3056" y="2871216"/>
            <a:ext cx="73152" cy="2633472"/>
          </a:xfrm>
          <a:prstGeom prst="rect">
            <a:avLst/>
          </a:prstGeom>
          <a:solidFill>
            <a:srgbClr val="2D6FBA"/>
          </a:solidFill>
          <a:ln w="12700">
            <a:solidFill>
              <a:srgbClr val="2D6FB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962656"/>
            <a:ext cx="2450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Chart Area 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09360" y="3163824"/>
            <a:ext cx="248716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[원가/개발/납기 지표 차트]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[보조 KPI]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[시사점]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079992" y="2852928"/>
            <a:ext cx="2560320" cy="2670048"/>
          </a:xfrm>
          <a:prstGeom prst="roundRect">
            <a:avLst>
              <a:gd name="adj" fmla="val 2857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098280" y="2871216"/>
            <a:ext cx="73152" cy="2633472"/>
          </a:xfrm>
          <a:prstGeom prst="rect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44584" y="296265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 Rail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44584" y="3163824"/>
            <a:ext cx="2304288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[핵심 인사이트]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[변동 원인]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[다음 액션]</a:t>
            </a:r>
            <a:endParaRPr lang="en-US" sz="1000" dirty="0"/>
          </a:p>
        </p:txBody>
      </p:sp>
      <p:sp>
        <p:nvSpPr>
          <p:cNvPr id="34" name="Text 10"/>
          <p:cNvSpPr/>
          <p:nvPr>
            <p:ph idx="110" type="title" hasCustomPrompt="1"/>
          </p:nvPr>
        </p:nvSpPr>
        <p:spPr>
          <a:xfrm>
            <a:off x="50292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600" dirty="0"/>
          </a:p>
        </p:txBody>
      </p:sp>
      <p:sp>
        <p:nvSpPr>
          <p:cNvPr id="35" name="Text 10"/>
          <p:cNvSpPr/>
          <p:nvPr>
            <p:ph idx="111" type="body" hasCustomPrompt="1"/>
          </p:nvPr>
        </p:nvSpPr>
        <p:spPr>
          <a:xfrm>
            <a:off x="502920" y="1325880"/>
            <a:ext cx="10927080" cy="4800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68C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70408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TEMPLATE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하반기 실행 Roadmap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분기별 단계와 책임조직을 함께 보여주는 일정형 템플릿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377440" cy="676656"/>
          </a:xfrm>
          <a:prstGeom prst="chevron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214884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246888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2807208"/>
            <a:ext cx="73152" cy="1865376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89864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[핵심 마일스톤]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04672" y="3099816"/>
            <a:ext cx="221284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[일정 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[일정 2]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[일정 3]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520440" y="1920240"/>
            <a:ext cx="2377440" cy="676656"/>
          </a:xfrm>
          <a:prstGeom prst="chevron">
            <a:avLst/>
          </a:prstGeom>
          <a:solidFill>
            <a:srgbClr val="114E96"/>
          </a:solidFill>
          <a:ln w="12700">
            <a:solidFill>
              <a:srgbClr val="114E9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214884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20440" y="2788920"/>
            <a:ext cx="246888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38728" y="2807208"/>
            <a:ext cx="73152" cy="1865376"/>
          </a:xfrm>
          <a:prstGeom prst="rect">
            <a:avLst/>
          </a:prstGeom>
          <a:solidFill>
            <a:srgbClr val="114E96"/>
          </a:solidFill>
          <a:ln w="12700">
            <a:solidFill>
              <a:srgbClr val="114E9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289864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[핵심 마일스톤]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85032" y="3099816"/>
            <a:ext cx="221284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[일정 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[일정 2]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[일정 3]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0" y="1920240"/>
            <a:ext cx="2377440" cy="676656"/>
          </a:xfrm>
          <a:prstGeom prst="chevron">
            <a:avLst/>
          </a:prstGeom>
          <a:solidFill>
            <a:srgbClr val="2D6FBA"/>
          </a:solidFill>
          <a:ln w="12700">
            <a:solidFill>
              <a:srgbClr val="2D6FB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0256" y="214884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0" y="2788920"/>
            <a:ext cx="246888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9088" y="2807208"/>
            <a:ext cx="73152" cy="1865376"/>
          </a:xfrm>
          <a:prstGeom prst="rect">
            <a:avLst/>
          </a:prstGeom>
          <a:solidFill>
            <a:srgbClr val="2D6FBA"/>
          </a:solidFill>
          <a:ln w="12700">
            <a:solidFill>
              <a:srgbClr val="2D6FBA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65392" y="289864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[핵심 마일스톤]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565392" y="3099816"/>
            <a:ext cx="221284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[일정 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[일정 2]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[일정 3]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281160" y="1920240"/>
            <a:ext cx="2377440" cy="676656"/>
          </a:xfrm>
          <a:prstGeom prst="chevron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0616" y="2148840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281160" y="2788920"/>
            <a:ext cx="2468880" cy="1901952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99448" y="2807208"/>
            <a:ext cx="73152" cy="1865376"/>
          </a:xfrm>
          <a:prstGeom prst="rect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45752" y="289864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[핵심 마일스톤]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445752" y="3099816"/>
            <a:ext cx="221284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[일정 1]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[일정 2]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[일정 3]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047488"/>
            <a:ext cx="10972800" cy="822960"/>
          </a:xfrm>
          <a:prstGeom prst="rect">
            <a:avLst/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5294376"/>
            <a:ext cx="1554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/ 협업조직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03120" y="521208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03120" y="5248656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전략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46120" y="521208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114E96"/>
          </a:solidFill>
          <a:ln w="12700">
            <a:solidFill>
              <a:srgbClr val="114E9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5248656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사업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89120" y="521208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2C6E62"/>
          </a:solidFill>
          <a:ln w="12700">
            <a:solidFill>
              <a:srgbClr val="2C6E62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5248656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재무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532120" y="5212080"/>
            <a:ext cx="914400" cy="219456"/>
          </a:xfrm>
          <a:prstGeom prst="roundRect">
            <a:avLst>
              <a:gd name="adj" fmla="val 25000"/>
            </a:avLst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32120" y="5248656"/>
            <a:ext cx="9144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개발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858000" y="5285232"/>
            <a:ext cx="4297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[분기별 책임조직, 주요 협업 부서, 의사결정 게이트를 이 영역에 정리]</a:t>
            </a:r>
            <a:endParaRPr lang="en-US" sz="800" dirty="0"/>
          </a:p>
        </p:txBody>
      </p:sp>
      <p:sp>
        <p:nvSpPr>
          <p:cNvPr id="41" name="Text 10"/>
          <p:cNvSpPr/>
          <p:nvPr>
            <p:ph idx="110" type="title" hasCustomPrompt="1"/>
          </p:nvPr>
        </p:nvSpPr>
        <p:spPr>
          <a:xfrm>
            <a:off x="50292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600" dirty="0"/>
          </a:p>
        </p:txBody>
      </p:sp>
      <p:sp>
        <p:nvSpPr>
          <p:cNvPr id="42" name="Text 10"/>
          <p:cNvSpPr/>
          <p:nvPr>
            <p:ph idx="111" type="body" hasCustomPrompt="1"/>
          </p:nvPr>
        </p:nvSpPr>
        <p:spPr>
          <a:xfrm>
            <a:off x="502920" y="1325880"/>
            <a:ext cx="10927080" cy="4800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68C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70408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 / RISK / ACTION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이슈 / 리스크 / 대응 과제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현안 공유와 선제조치를 구조화하는 위험관리형 템플릿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52" y="1664208"/>
            <a:ext cx="3273552" cy="420624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810512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Issue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2249424"/>
            <a:ext cx="327355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267712"/>
            <a:ext cx="73152" cy="950976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3591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[항목 1]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4944" y="256032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[내용 입력]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[영향도 / 시기 / 소유조직]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" y="3465576"/>
            <a:ext cx="3273552" cy="987552"/>
          </a:xfrm>
          <a:prstGeom prst="roundRect">
            <a:avLst>
              <a:gd name="adj" fmla="val 7407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483864"/>
            <a:ext cx="73152" cy="950976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3575304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[항목 2]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94944" y="377647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[내용 입력]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[영향도 / 시기 / 소유조직]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0352" y="4681728"/>
            <a:ext cx="327355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700016"/>
            <a:ext cx="73152" cy="950976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4791456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[항목 3]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4944" y="499262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[내용 입력]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[영향도 / 시기 / 소유조직]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995928" y="1664208"/>
            <a:ext cx="3273552" cy="420624"/>
          </a:xfrm>
          <a:prstGeom prst="rect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95928" y="1810512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995928" y="2249424"/>
            <a:ext cx="327355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14216" y="2267712"/>
            <a:ext cx="73152" cy="950976"/>
          </a:xfrm>
          <a:prstGeom prst="rect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23591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[항목 1]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60520" y="256032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[내용 입력]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[영향도 / 시기 / 소유조직]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995928" y="3465576"/>
            <a:ext cx="3273552" cy="987552"/>
          </a:xfrm>
          <a:prstGeom prst="roundRect">
            <a:avLst>
              <a:gd name="adj" fmla="val 7407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14216" y="3483864"/>
            <a:ext cx="73152" cy="950976"/>
          </a:xfrm>
          <a:prstGeom prst="rect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60520" y="3575304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[항목 2]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60520" y="377647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[내용 입력]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[영향도 / 시기 / 소유조직]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995928" y="4681728"/>
            <a:ext cx="327355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14216" y="4700016"/>
            <a:ext cx="73152" cy="950976"/>
          </a:xfrm>
          <a:prstGeom prst="rect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4791456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[항목 3]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160520" y="499262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[내용 입력]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[영향도 / 시기 / 소유조직]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61504" y="1664208"/>
            <a:ext cx="3273552" cy="420624"/>
          </a:xfrm>
          <a:prstGeom prst="rect">
            <a:avLst/>
          </a:prstGeom>
          <a:solidFill>
            <a:srgbClr val="2C6E62"/>
          </a:solidFill>
          <a:ln w="12700">
            <a:solidFill>
              <a:srgbClr val="2C6E6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461504" y="1810512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461504" y="2249424"/>
            <a:ext cx="327355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79792" y="2267712"/>
            <a:ext cx="73152" cy="950976"/>
          </a:xfrm>
          <a:prstGeom prst="rect">
            <a:avLst/>
          </a:prstGeom>
          <a:solidFill>
            <a:srgbClr val="2C6E62"/>
          </a:solidFill>
          <a:ln w="12700">
            <a:solidFill>
              <a:srgbClr val="2C6E6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26096" y="2359152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[항목 1]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26096" y="2560320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[내용 입력]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[영향도 / 시기 / 소유조직]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61504" y="3465576"/>
            <a:ext cx="3273552" cy="987552"/>
          </a:xfrm>
          <a:prstGeom prst="roundRect">
            <a:avLst>
              <a:gd name="adj" fmla="val 7407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79792" y="3483864"/>
            <a:ext cx="73152" cy="950976"/>
          </a:xfrm>
          <a:prstGeom prst="rect">
            <a:avLst/>
          </a:prstGeom>
          <a:solidFill>
            <a:srgbClr val="2C6E62"/>
          </a:solidFill>
          <a:ln w="12700">
            <a:solidFill>
              <a:srgbClr val="2C6E62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26096" y="3575304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[항목 2]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626096" y="3776472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[내용 입력]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[영향도 / 시기 / 소유조직]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461504" y="4681728"/>
            <a:ext cx="3273552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79792" y="4700016"/>
            <a:ext cx="73152" cy="950976"/>
          </a:xfrm>
          <a:prstGeom prst="rect">
            <a:avLst/>
          </a:prstGeom>
          <a:solidFill>
            <a:srgbClr val="2C6E62"/>
          </a:solidFill>
          <a:ln w="12700">
            <a:solidFill>
              <a:srgbClr val="2C6E62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6096" y="4791456"/>
            <a:ext cx="2980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[항목 3]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6096" y="4992624"/>
            <a:ext cx="3017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[내용 입력]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[영향도 / 시기 / 소유조직]</a:t>
            </a:r>
            <a:endParaRPr lang="en-US" sz="1000" dirty="0"/>
          </a:p>
        </p:txBody>
      </p:sp>
      <p:sp>
        <p:nvSpPr>
          <p:cNvPr id="48" name="Text 10"/>
          <p:cNvSpPr/>
          <p:nvPr>
            <p:ph idx="110" type="title" hasCustomPrompt="1"/>
          </p:nvPr>
        </p:nvSpPr>
        <p:spPr>
          <a:xfrm>
            <a:off x="50292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600" dirty="0"/>
          </a:p>
        </p:txBody>
      </p:sp>
      <p:sp>
        <p:nvSpPr>
          <p:cNvPr id="49" name="Text 10"/>
          <p:cNvSpPr/>
          <p:nvPr>
            <p:ph idx="111" type="body" hasCustomPrompt="1"/>
          </p:nvPr>
        </p:nvSpPr>
        <p:spPr>
          <a:xfrm>
            <a:off x="502920" y="1325880"/>
            <a:ext cx="10927080" cy="4800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68C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70408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PRIORITY MATRIX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투자 / 과제 우선순위 Matrix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영향도와 실행난이도를 동시에 설명하는 우선순위 평가형 템플릿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914400" y="1828800"/>
            <a:ext cx="6949440" cy="4114800"/>
          </a:xfrm>
          <a:prstGeom prst="rect">
            <a:avLst/>
          </a:prstGeom>
          <a:solidFill>
            <a:srgbClr val="FFFFFF"/>
          </a:solidFill>
          <a:ln w="15240">
            <a:solidFill>
              <a:srgbClr val="C8D4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0" y="1828800"/>
            <a:ext cx="0" cy="4114800"/>
          </a:xfrm>
          <a:prstGeom prst="line">
            <a:avLst/>
          </a:prstGeom>
          <a:noFill/>
          <a:ln w="12700">
            <a:solidFill>
              <a:srgbClr val="C8D4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886200"/>
            <a:ext cx="6949440" cy="0"/>
          </a:xfrm>
          <a:prstGeom prst="line">
            <a:avLst/>
          </a:prstGeom>
          <a:noFill/>
          <a:ln w="12700">
            <a:solidFill>
              <a:srgbClr val="C8D4E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16200000">
            <a:off x="256032" y="1737360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37560" y="603504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Difficulty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24128" y="193852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6E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Win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07992" y="193852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Bet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24128" y="399592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89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Selective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07992" y="3995928"/>
            <a:ext cx="1097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0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Defer / Watch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28800" y="274320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2C6E62">
              <a:alpha val="92000"/>
            </a:srgbClr>
          </a:solidFill>
          <a:ln w="12700">
            <a:solidFill>
              <a:srgbClr val="2C6E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84378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6E6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[과제 A]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394960" y="265176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0B2F6B">
              <a:alpha val="92000"/>
            </a:srgbClr>
          </a:solidFill>
          <a:ln w="12700">
            <a:solidFill>
              <a:srgbClr val="0B2F6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275234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2F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[과제 B]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91840" y="466344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C48917">
              <a:alpha val="92000"/>
            </a:srgbClr>
          </a:solidFill>
          <a:ln w="12700">
            <a:solidFill>
              <a:srgbClr val="C489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476402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4891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[과제 C]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852160" y="484632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A02233">
              <a:alpha val="92000"/>
            </a:srgbClr>
          </a:solidFill>
          <a:ln w="12700">
            <a:solidFill>
              <a:srgbClr val="A022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52160" y="494690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022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[과제 D]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297680" y="3474720"/>
            <a:ext cx="960120" cy="310896"/>
          </a:xfrm>
          <a:prstGeom prst="roundRect">
            <a:avLst>
              <a:gd name="adj" fmla="val 17647"/>
            </a:avLst>
          </a:prstGeom>
          <a:solidFill>
            <a:srgbClr val="2D6FBA">
              <a:alpha val="92000"/>
            </a:srgbClr>
          </a:solidFill>
          <a:ln w="12700">
            <a:solidFill>
              <a:srgbClr val="2D6F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3575304"/>
            <a:ext cx="9601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[과제 E]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8183880" y="1828800"/>
            <a:ext cx="3493008" cy="4114800"/>
          </a:xfrm>
          <a:prstGeom prst="roundRect">
            <a:avLst>
              <a:gd name="adj" fmla="val 2094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02168" y="1847088"/>
            <a:ext cx="73152" cy="4078224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48472" y="19385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판단 기준 / 설명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348472" y="2139696"/>
            <a:ext cx="323697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가로축: [실행난이도 정의]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세로축: [영향도 정의]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점/라벨: [과제명]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우측에는 판단 기준, 예외사항, 의사결정 메모를 기입</a:t>
            </a:r>
            <a:endParaRPr lang="en-US" sz="1000" dirty="0"/>
          </a:p>
        </p:txBody>
      </p:sp>
      <p:sp>
        <p:nvSpPr>
          <p:cNvPr id="29" name="Text 10"/>
          <p:cNvSpPr/>
          <p:nvPr>
            <p:ph idx="110" type="title" hasCustomPrompt="1"/>
          </p:nvPr>
        </p:nvSpPr>
        <p:spPr>
          <a:xfrm>
            <a:off x="50292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600" dirty="0"/>
          </a:p>
        </p:txBody>
      </p:sp>
      <p:sp>
        <p:nvSpPr>
          <p:cNvPr id="30" name="Text 10"/>
          <p:cNvSpPr/>
          <p:nvPr>
            <p:ph idx="111" type="body" hasCustomPrompt="1"/>
          </p:nvPr>
        </p:nvSpPr>
        <p:spPr>
          <a:xfrm>
            <a:off x="502920" y="1325880"/>
            <a:ext cx="10927080" cy="4800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68C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70408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WORKSTREAM ALIGNMENT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워크스트림 / 책임조직 정렬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조직별 실행 항목과 연계관계를 한 장에서 보여주는 실행정렬형 템플릿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52" y="1755648"/>
            <a:ext cx="1325880" cy="749808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2011680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사업전략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29968" y="1755648"/>
            <a:ext cx="27980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48256" y="1773936"/>
            <a:ext cx="73152" cy="713232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94560" y="186537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[실행 항목 1]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94560" y="206654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[담당자 / 일정 / 산출물]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1755648"/>
            <a:ext cx="2798064" cy="749808"/>
          </a:xfrm>
          <a:prstGeom prst="roundRect">
            <a:avLst>
              <a:gd name="adj" fmla="val 9756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8928" y="1773936"/>
            <a:ext cx="73152" cy="713232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186537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[실행 항목 2]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85232" y="206654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[담당자 / 일정 / 산출물]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11312" y="1755648"/>
            <a:ext cx="27980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1773936"/>
            <a:ext cx="73152" cy="713232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75904" y="1865376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[실행 항목 3]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75904" y="2066544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[담당자 / 일정 / 산출물]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" y="2743200"/>
            <a:ext cx="1325880" cy="749808"/>
          </a:xfrm>
          <a:prstGeom prst="rect">
            <a:avLst/>
          </a:prstGeom>
          <a:solidFill>
            <a:srgbClr val="114E96"/>
          </a:solidFill>
          <a:ln w="12700">
            <a:solidFill>
              <a:srgbClr val="114E9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" y="2999232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개발/생산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029968" y="2743200"/>
            <a:ext cx="27980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048256" y="2761488"/>
            <a:ext cx="73152" cy="713232"/>
          </a:xfrm>
          <a:prstGeom prst="rect">
            <a:avLst/>
          </a:prstGeom>
          <a:solidFill>
            <a:srgbClr val="114E96"/>
          </a:solidFill>
          <a:ln w="12700">
            <a:solidFill>
              <a:srgbClr val="114E96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94560" y="285292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[실행 항목 1]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305409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[담당자 / 일정 / 산출물]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20640" y="2743200"/>
            <a:ext cx="2798064" cy="749808"/>
          </a:xfrm>
          <a:prstGeom prst="roundRect">
            <a:avLst>
              <a:gd name="adj" fmla="val 9756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38928" y="2761488"/>
            <a:ext cx="73152" cy="713232"/>
          </a:xfrm>
          <a:prstGeom prst="rect">
            <a:avLst/>
          </a:prstGeom>
          <a:solidFill>
            <a:srgbClr val="114E96"/>
          </a:solidFill>
          <a:ln w="12700">
            <a:solidFill>
              <a:srgbClr val="114E9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85232" y="285292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[실행 항목 2]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85232" y="305409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[담당자 / 일정 / 산출물]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211312" y="2743200"/>
            <a:ext cx="27980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229600" y="2761488"/>
            <a:ext cx="73152" cy="713232"/>
          </a:xfrm>
          <a:prstGeom prst="rect">
            <a:avLst/>
          </a:prstGeom>
          <a:solidFill>
            <a:srgbClr val="114E96"/>
          </a:solidFill>
          <a:ln w="12700">
            <a:solidFill>
              <a:srgbClr val="114E9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75904" y="2852928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[실행 항목 3]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75904" y="3054096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[담당자 / 일정 / 산출물]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30352" y="3730752"/>
            <a:ext cx="1325880" cy="749808"/>
          </a:xfrm>
          <a:prstGeom prst="rect">
            <a:avLst/>
          </a:prstGeom>
          <a:solidFill>
            <a:srgbClr val="2C6E62"/>
          </a:solidFill>
          <a:ln w="12700">
            <a:solidFill>
              <a:srgbClr val="2C6E62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3986784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재무/투자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029968" y="3730752"/>
            <a:ext cx="27980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48256" y="3749040"/>
            <a:ext cx="73152" cy="713232"/>
          </a:xfrm>
          <a:prstGeom prst="rect">
            <a:avLst/>
          </a:prstGeom>
          <a:solidFill>
            <a:srgbClr val="2C6E62"/>
          </a:solidFill>
          <a:ln w="12700">
            <a:solidFill>
              <a:srgbClr val="2C6E62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94560" y="384048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[실행 항목 1]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2194560" y="404164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[담당자 / 일정 / 산출물]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0" y="3730752"/>
            <a:ext cx="2798064" cy="749808"/>
          </a:xfrm>
          <a:prstGeom prst="roundRect">
            <a:avLst>
              <a:gd name="adj" fmla="val 9756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138928" y="3749040"/>
            <a:ext cx="73152" cy="713232"/>
          </a:xfrm>
          <a:prstGeom prst="rect">
            <a:avLst/>
          </a:prstGeom>
          <a:solidFill>
            <a:srgbClr val="2C6E62"/>
          </a:solidFill>
          <a:ln w="12700">
            <a:solidFill>
              <a:srgbClr val="2C6E62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85232" y="384048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[실행 항목 2]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85232" y="404164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[담당자 / 일정 / 산출물]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8211312" y="3730752"/>
            <a:ext cx="27980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229600" y="3749040"/>
            <a:ext cx="73152" cy="713232"/>
          </a:xfrm>
          <a:prstGeom prst="rect">
            <a:avLst/>
          </a:prstGeom>
          <a:solidFill>
            <a:srgbClr val="2C6E62"/>
          </a:solidFill>
          <a:ln w="12700">
            <a:solidFill>
              <a:srgbClr val="2C6E62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375904" y="3840480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[실행 항목 3]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375904" y="4041648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[담당자 / 일정 / 산출물]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30352" y="4718304"/>
            <a:ext cx="1325880" cy="749808"/>
          </a:xfrm>
          <a:prstGeom prst="rect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3504" y="4974336"/>
            <a:ext cx="11704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지원/거버넌스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029968" y="4718304"/>
            <a:ext cx="27980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048256" y="4736592"/>
            <a:ext cx="73152" cy="713232"/>
          </a:xfrm>
          <a:prstGeom prst="rect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194560" y="482803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[실행 항목 1]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194560" y="502920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[담당자 / 일정 / 산출물]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120640" y="4718304"/>
            <a:ext cx="2798064" cy="749808"/>
          </a:xfrm>
          <a:prstGeom prst="roundRect">
            <a:avLst>
              <a:gd name="adj" fmla="val 9756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138928" y="4736592"/>
            <a:ext cx="73152" cy="713232"/>
          </a:xfrm>
          <a:prstGeom prst="rect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85232" y="482803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[실행 항목 2]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285232" y="502920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[담당자 / 일정 / 산출물]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211312" y="4718304"/>
            <a:ext cx="279806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229600" y="4736592"/>
            <a:ext cx="73152" cy="713232"/>
          </a:xfrm>
          <a:prstGeom prst="rect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375904" y="4828032"/>
            <a:ext cx="2505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[실행 항목 3]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375904" y="5029200"/>
            <a:ext cx="2542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[담당자 / 일정 / 산출물]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48640" y="5897880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각 행은 조직 또는 워크스트림, 각 박스는 핵심 deliverable로 사용합니다.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9144000" y="5806440"/>
            <a:ext cx="777240" cy="219456"/>
          </a:xfrm>
          <a:prstGeom prst="roundRect">
            <a:avLst>
              <a:gd name="adj" fmla="val 25000"/>
            </a:avLst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44000" y="5843016"/>
            <a:ext cx="7772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10012680" y="5806440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114E96"/>
          </a:solidFill>
          <a:ln w="12700">
            <a:solidFill>
              <a:srgbClr val="114E96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012680" y="5843016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10972800" y="5806440"/>
            <a:ext cx="868680" cy="219456"/>
          </a:xfrm>
          <a:prstGeom prst="roundRect">
            <a:avLst>
              <a:gd name="adj" fmla="val 25000"/>
            </a:avLst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972800" y="5843016"/>
            <a:ext cx="868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00" dirty="0"/>
          </a:p>
        </p:txBody>
      </p:sp>
      <p:sp>
        <p:nvSpPr>
          <p:cNvPr id="69" name="Text 10"/>
          <p:cNvSpPr/>
          <p:nvPr>
            <p:ph idx="110" type="title" hasCustomPrompt="1"/>
          </p:nvPr>
        </p:nvSpPr>
        <p:spPr>
          <a:xfrm>
            <a:off x="50292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600" dirty="0"/>
          </a:p>
        </p:txBody>
      </p:sp>
      <p:sp>
        <p:nvSpPr>
          <p:cNvPr id="70" name="Text 10"/>
          <p:cNvSpPr/>
          <p:nvPr>
            <p:ph idx="111" type="body" hasCustomPrompt="1"/>
          </p:nvPr>
        </p:nvSpPr>
        <p:spPr>
          <a:xfrm>
            <a:off x="502920" y="1325880"/>
            <a:ext cx="10927080" cy="4800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68C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2064" y="704088"/>
            <a:ext cx="1508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D6FB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DETAIL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2064" y="89611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상세 검토 / 부록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22529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본문 이후 세부 수치, 근거, 표, 추가 차트를 넣는 상세형 템플릿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30352" y="1664208"/>
            <a:ext cx="7955280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82496"/>
            <a:ext cx="73152" cy="4462272"/>
          </a:xfrm>
          <a:prstGeom prst="rect">
            <a:avLst/>
          </a:prstGeom>
          <a:solidFill>
            <a:srgbClr val="0B2F6B"/>
          </a:solidFill>
          <a:ln w="12700">
            <a:solidFill>
              <a:srgbClr val="0B2F6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773936"/>
            <a:ext cx="7662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Content Area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94944" y="1975104"/>
            <a:ext cx="7699248" cy="4096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[대형 표 / 상세 차트 / 세부 분석 / 도식 삽입]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본문에서 설명하지 못한 근거와 상세자료를 이 영역에 배치합니다.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668512" y="1664208"/>
            <a:ext cx="2971800" cy="2084832"/>
          </a:xfrm>
          <a:prstGeom prst="roundRect">
            <a:avLst>
              <a:gd name="adj" fmla="val 3509"/>
            </a:avLst>
          </a:prstGeom>
          <a:solidFill>
            <a:srgbClr val="F4F7FB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0" y="1682496"/>
            <a:ext cx="73152" cy="2048256"/>
          </a:xfrm>
          <a:prstGeom prst="rect">
            <a:avLst/>
          </a:prstGeom>
          <a:solidFill>
            <a:srgbClr val="A02233"/>
          </a:solidFill>
          <a:ln w="12700">
            <a:solidFill>
              <a:srgbClr val="A02233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33104" y="1773936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Notes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33104" y="1975104"/>
            <a:ext cx="2715768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[해석 포인트]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[제약사항]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[전제조건]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668512" y="3950208"/>
            <a:ext cx="2971800" cy="2212848"/>
          </a:xfrm>
          <a:prstGeom prst="roundRect">
            <a:avLst>
              <a:gd name="adj" fmla="val 3306"/>
            </a:avLst>
          </a:prstGeom>
          <a:solidFill>
            <a:srgbClr val="FFFFFF"/>
          </a:solidFill>
          <a:ln w="12700">
            <a:solidFill>
              <a:srgbClr val="C8D4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0" y="3968496"/>
            <a:ext cx="73152" cy="2176272"/>
          </a:xfrm>
          <a:prstGeom prst="rect">
            <a:avLst/>
          </a:prstGeom>
          <a:solidFill>
            <a:srgbClr val="2D6FBA"/>
          </a:solidFill>
          <a:ln w="12700">
            <a:solidFill>
              <a:srgbClr val="2D6FB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33104" y="4059936"/>
            <a:ext cx="2679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/ Footnote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33104" y="4261104"/>
            <a:ext cx="2715768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[출처]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[기준시점]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[단위]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27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[비고]</a:t>
            </a:r>
            <a:endParaRPr lang="en-US" sz="1000" dirty="0"/>
          </a:p>
        </p:txBody>
      </p:sp>
      <p:sp>
        <p:nvSpPr>
          <p:cNvPr id="18" name="Text 10"/>
          <p:cNvSpPr/>
          <p:nvPr>
            <p:ph idx="110" type="title" hasCustomPrompt="1"/>
          </p:nvPr>
        </p:nvSpPr>
        <p:spPr>
          <a:xfrm>
            <a:off x="502920" y="8686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2600" dirty="0"/>
          </a:p>
        </p:txBody>
      </p:sp>
      <p:sp>
        <p:nvSpPr>
          <p:cNvPr id="19" name="Text 10"/>
          <p:cNvSpPr/>
          <p:nvPr>
            <p:ph idx="111" type="body" hasCustomPrompt="1"/>
          </p:nvPr>
        </p:nvSpPr>
        <p:spPr>
          <a:xfrm>
            <a:off x="502920" y="1325880"/>
            <a:ext cx="10927080" cy="48006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11712" y="644652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62768C"/>
                </a:solidFill>
                <a:latin typeface="Aptos"/>
                <a:ea typeface="Aptos"/>
                <a:cs typeface="Aptos"/>
              </a:defRPr>
            </a:lvl1pPr>
          </a:lstStyle>
          <a:p>
            <a:pPr algn="ct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 H2 Strategy Template</dc:title>
  <dc:subject>KAI H2 strategy meeting template</dc:subject>
  <dc:creator>OpenAI Codex</dc:creator>
  <cp:lastModifiedBy>OpenAI Codex</cp:lastModifiedBy>
  <cp:revision>1</cp:revision>
  <dcterms:created xsi:type="dcterms:W3CDTF">2026-06-03T13:45:12Z</dcterms:created>
  <dcterms:modified xsi:type="dcterms:W3CDTF">2026-06-03T13:45:12Z</dcterms:modified>
</cp:coreProperties>
</file>